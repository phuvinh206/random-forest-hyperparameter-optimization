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05840"/>
            <a:ext cx="1115568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768096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28800" y="1234440"/>
            <a:ext cx="8869680" cy="9144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2400" b="1">
                <a:solidFill>
                  <a:srgbClr val="2B2B2B"/>
                </a:solidFill>
              </a:defRPr>
            </a:pPr>
            <a:r>
              <a:t>RANDOM FOREST</a:t>
            </a:r>
            <a:br/>
            <a:r>
              <a:t>HYPERPARAMETER OPTIMIZATION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2240280"/>
            <a:ext cx="877824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800" b="1">
                <a:solidFill>
                  <a:srgbClr val="B1192A"/>
                </a:solidFill>
              </a:defRPr>
            </a:pPr>
            <a:r>
              <a:t>Tối ưu siêu tham số Random Forest bằng Random Search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880360"/>
            <a:ext cx="10332720" cy="1920240"/>
          </a:xfrm>
          <a:prstGeom prst="roundRect">
            <a:avLst/>
          </a:prstGeom>
          <a:solidFill>
            <a:srgbClr val="F7F7F7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127248"/>
            <a:ext cx="9875520" cy="1417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700" b="0">
                <a:solidFill>
                  <a:srgbClr val="2B2B2B"/>
                </a:solidFill>
              </a:defRPr>
            </a:pPr>
            <a:r>
              <a:t>Sinh viên thực hiện: Phạm Phú Vĩnh  |  MSSV: 2474802010441</a:t>
            </a:r>
          </a:p>
          <a:p>
            <a:pPr algn="l">
              <a:defRPr sz="1700" b="0">
                <a:solidFill>
                  <a:srgbClr val="2B2B2B"/>
                </a:solidFill>
              </a:defRPr>
            </a:pPr>
            <a:r>
              <a:t>Lớp: 261_71ITAI51403_02  |  GVHD: Nguyễn Thị Diễm Anh</a:t>
            </a:r>
          </a:p>
          <a:p>
            <a:pPr algn="l">
              <a:defRPr sz="1700" b="0">
                <a:solidFill>
                  <a:srgbClr val="2B2B2B"/>
                </a:solidFill>
              </a:defRPr>
            </a:pPr>
            <a:r>
              <a:t>Môn học: Nhập môn Tối ưu hóa  |  Dataset: Breast Cancer Wisconsin (Diagnostic)</a:t>
            </a:r>
          </a:p>
          <a:p>
            <a:pPr algn="l">
              <a:defRPr sz="1700" b="0">
                <a:solidFill>
                  <a:srgbClr val="2B2B2B"/>
                </a:solidFill>
              </a:defRPr>
            </a:pPr>
            <a:r>
              <a:t>Phương pháp: Baseline Random Forest vs Random Search (30 trials)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120640"/>
            <a:ext cx="10332720" cy="502920"/>
          </a:xfrm>
          <a:prstGeom prst="round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230368"/>
            <a:ext cx="10058400" cy="219456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GitHub: https://github.com/PhuVinh206/random-forest-hyperparameter-optimization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11480"/>
            <a:ext cx="384048" cy="457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Nhập môn Tối ưu hóa  •  Bài tập lớn cá nhân  •  Phạm Phú Vĩnh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B2B2B"/>
                </a:solidFill>
              </a:defRPr>
            </a:pPr>
            <a:r>
              <a:t>1. Bài toán &amp; mô hình hóa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94183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Xác định biến quyết định, hàm mục tiêu và ràng buộc tối ưu hóa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27432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25880"/>
            <a:ext cx="109728" cy="1143000"/>
          </a:xfrm>
          <a:prstGeom prst="rect">
            <a:avLst/>
          </a:prstGeom>
          <a:solidFill>
            <a:srgbClr val="2C5D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399032"/>
            <a:ext cx="251460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B2B2B"/>
                </a:solidFill>
              </a:defRPr>
            </a:pPr>
            <a:r>
              <a:t>Câu hỏi nghiên cứu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664208"/>
            <a:ext cx="2487168" cy="7589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300" b="0">
                <a:solidFill>
                  <a:srgbClr val="5A5A5A"/>
                </a:solidFill>
              </a:defRPr>
            </a:pPr>
            <a:r>
              <a:t>Trong budget 30 cấu hình, Random Search có cải thiện Macro-F1 so với Random Forest mặc định hay không?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6040"/>
            <a:ext cx="274320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606040"/>
            <a:ext cx="109728" cy="118872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679192"/>
            <a:ext cx="251460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B2B2B"/>
                </a:solidFill>
              </a:defRPr>
            </a:pPr>
            <a:r>
              <a:t>Biến quyết định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944368"/>
            <a:ext cx="2487168" cy="8046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300" b="0">
                <a:solidFill>
                  <a:srgbClr val="5A5A5A"/>
                </a:solidFill>
              </a:defRPr>
            </a:pPr>
            <a:r>
              <a:t>n_estimators, max_depth,</a:t>
            </a:r>
            <a:br/>
            <a:r>
              <a:t>min_samples_split, min_samples_leaf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86200"/>
            <a:ext cx="27432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886200"/>
            <a:ext cx="109728" cy="1234440"/>
          </a:xfrm>
          <a:prstGeom prst="rect">
            <a:avLst/>
          </a:prstGeom>
          <a:solidFill>
            <a:srgbClr val="3A8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959352"/>
            <a:ext cx="251460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B2B2B"/>
                </a:solidFill>
              </a:defRPr>
            </a:pPr>
            <a:r>
              <a:t>Hàm mục tiêu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224528"/>
            <a:ext cx="2487168" cy="85039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300" b="0">
                <a:solidFill>
                  <a:srgbClr val="5A5A5A"/>
                </a:solidFill>
              </a:defRPr>
            </a:pPr>
            <a:r>
              <a:t>Tối đa hóa trung bình CV Macro-F1</a:t>
            </a:r>
            <a:br/>
            <a:r>
              <a:t>trên 5 fold của tập huấn luyện.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132588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800" b="1">
                <a:solidFill>
                  <a:srgbClr val="2B2B2B"/>
                </a:solidFill>
              </a:defRPr>
            </a:pPr>
            <a:r>
              <a:t>Miền tìm kiếm siêu tham số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1691640"/>
            <a:ext cx="2103120" cy="502920"/>
          </a:xfrm>
          <a:prstGeom prst="rect">
            <a:avLst/>
          </a:prstGeom>
          <a:solidFill>
            <a:srgbClr val="B1192A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Thành phần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15000" y="1691640"/>
            <a:ext cx="4023360" cy="502920"/>
          </a:xfrm>
          <a:prstGeom prst="rect">
            <a:avLst/>
          </a:prstGeom>
          <a:solidFill>
            <a:srgbClr val="B1192A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Miền giá trị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80" y="2194560"/>
            <a:ext cx="2103120" cy="502920"/>
          </a:xfrm>
          <a:prstGeom prst="rect">
            <a:avLst/>
          </a:prstGeom>
          <a:solidFill>
            <a:srgbClr val="EBEEF2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n_estimators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0" y="2194560"/>
            <a:ext cx="4023360" cy="502920"/>
          </a:xfrm>
          <a:prstGeom prst="rect">
            <a:avLst/>
          </a:prstGeom>
          <a:solidFill>
            <a:srgbClr val="EBEEF2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20, 40, 60, 80, 100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11880" y="2697480"/>
            <a:ext cx="21031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max_depth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15000" y="2697480"/>
            <a:ext cx="40233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None, 3, 5, 10, 15, 20, 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80" y="3200400"/>
            <a:ext cx="2103120" cy="502920"/>
          </a:xfrm>
          <a:prstGeom prst="rect">
            <a:avLst/>
          </a:prstGeom>
          <a:solidFill>
            <a:srgbClr val="EBEEF2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min_samples_split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15000" y="3200400"/>
            <a:ext cx="4023360" cy="502920"/>
          </a:xfrm>
          <a:prstGeom prst="rect">
            <a:avLst/>
          </a:prstGeom>
          <a:solidFill>
            <a:srgbClr val="EBEEF2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2, 4, 6, 10, 15, 20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11880" y="3703320"/>
            <a:ext cx="21031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min_samples_leaf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15000" y="3703320"/>
            <a:ext cx="40233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1, 2, 3, 5, 7, 10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11880" y="4434840"/>
            <a:ext cx="7726679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11880" y="4434840"/>
            <a:ext cx="109728" cy="822960"/>
          </a:xfrm>
          <a:prstGeom prst="rect">
            <a:avLst/>
          </a:prstGeom>
          <a:solidFill>
            <a:srgbClr val="2C5D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76472" y="4507992"/>
            <a:ext cx="7498079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B2B2B"/>
                </a:solidFill>
              </a:defRPr>
            </a:pPr>
            <a:r>
              <a:t>Ràng buộc &amp; điều kiện dừng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76472" y="4773168"/>
            <a:ext cx="7470647" cy="43891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300" b="0">
                <a:solidFill>
                  <a:srgbClr val="5A5A5A"/>
                </a:solidFill>
              </a:defRPr>
            </a:pPr>
            <a:r>
              <a:t>x ∈ Ω, test set không tham gia tuning, dùng cùng split/folds/metric/seed và dừng sau 30 trials.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11480"/>
            <a:ext cx="384048" cy="457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Nhập môn Tối ưu hóa  •  Bài tập lớn cá nhân  •  Phạm Phú Vĩnh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B2B2B"/>
                </a:solidFill>
              </a:defRPr>
            </a:pPr>
            <a:r>
              <a:t>2. Dữ liệu &amp; thiết kế thực nghiệm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94183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Thiết lập dữ liệu, cách chia tập và tiêu chí đánh giá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30175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25880"/>
            <a:ext cx="109728" cy="201168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399032"/>
            <a:ext cx="278892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B2B2B"/>
                </a:solidFill>
              </a:defRPr>
            </a:pPr>
            <a:r>
              <a:t>Bộ dữ liệu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664208"/>
            <a:ext cx="2761488" cy="16276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300" b="0">
                <a:solidFill>
                  <a:srgbClr val="5A5A5A"/>
                </a:solidFill>
              </a:defRPr>
            </a:pPr>
            <a:r>
              <a:t>Breast Cancer Wisconsin</a:t>
            </a:r>
            <a:br/>
            <a:r>
              <a:t>(Diagnostic)</a:t>
            </a:r>
            <a:br/>
            <a:br/>
            <a:r>
              <a:t>• 569 mẫu</a:t>
            </a:r>
            <a:br/>
            <a:r>
              <a:t>• 30 đặc trưng số</a:t>
            </a:r>
            <a:br/>
            <a:r>
              <a:t>• 2 lớp phân loại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66160"/>
            <a:ext cx="301752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566160"/>
            <a:ext cx="109728" cy="1554480"/>
          </a:xfrm>
          <a:prstGeom prst="rect">
            <a:avLst/>
          </a:prstGeom>
          <a:solidFill>
            <a:srgbClr val="3A8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639312"/>
            <a:ext cx="278892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B2B2B"/>
                </a:solidFill>
              </a:defRPr>
            </a:pPr>
            <a:r>
              <a:t>Metric đánh giá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904488"/>
            <a:ext cx="2761488" cy="11704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300" b="0">
                <a:solidFill>
                  <a:srgbClr val="5A5A5A"/>
                </a:solidFill>
              </a:defRPr>
            </a:pPr>
            <a:r>
              <a:t>• CV Macro-F1 (chính)</a:t>
            </a:r>
            <a:br/>
            <a:r>
              <a:t>• Test Macro-F1</a:t>
            </a:r>
            <a:br/>
            <a:r>
              <a:t>• Test Accuracy</a:t>
            </a:r>
            <a:br/>
            <a:r>
              <a:t>• Runtime và độ lệch chuẩn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325880"/>
            <a:ext cx="7498079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800" b="1">
                <a:solidFill>
                  <a:srgbClr val="2B2B2B"/>
                </a:solidFill>
              </a:defRPr>
            </a:pPr>
            <a:r>
              <a:t>Quy trình thực nghiệm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0" y="1783080"/>
            <a:ext cx="22402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13632" y="1856232"/>
            <a:ext cx="209397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B1192A"/>
                </a:solidFill>
              </a:defRPr>
            </a:pPr>
            <a:r>
              <a:t>Train/Test 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2" y="2103120"/>
            <a:ext cx="2093976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100" b="0">
                <a:solidFill>
                  <a:srgbClr val="5A5A5A"/>
                </a:solidFill>
              </a:defRPr>
            </a:pPr>
            <a:r>
              <a:t>80% / 20% stratified, random_state=42</a:t>
            </a:r>
          </a:p>
        </p:txBody>
      </p:sp>
      <p:sp>
        <p:nvSpPr>
          <p:cNvPr id="20" name="Chevron 19"/>
          <p:cNvSpPr/>
          <p:nvPr/>
        </p:nvSpPr>
        <p:spPr>
          <a:xfrm>
            <a:off x="6126480" y="1984248"/>
            <a:ext cx="320040" cy="411480"/>
          </a:xfrm>
          <a:prstGeom prst="chevron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0" y="1783080"/>
            <a:ext cx="22402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1856232"/>
            <a:ext cx="209397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B1192A"/>
                </a:solidFill>
              </a:defRPr>
            </a:pPr>
            <a:r>
              <a:t>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103120"/>
            <a:ext cx="2093976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100" b="0">
                <a:solidFill>
                  <a:srgbClr val="5A5A5A"/>
                </a:solidFill>
              </a:defRPr>
            </a:pPr>
            <a:r>
              <a:t>RandomForestClassifier mặc định</a:t>
            </a:r>
          </a:p>
        </p:txBody>
      </p:sp>
      <p:sp>
        <p:nvSpPr>
          <p:cNvPr id="24" name="Chevron 23"/>
          <p:cNvSpPr/>
          <p:nvPr/>
        </p:nvSpPr>
        <p:spPr>
          <a:xfrm>
            <a:off x="8869680" y="1984248"/>
            <a:ext cx="320040" cy="411480"/>
          </a:xfrm>
          <a:prstGeom prst="chevron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26880" y="1783080"/>
            <a:ext cx="22402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00032" y="1856232"/>
            <a:ext cx="209397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B1192A"/>
                </a:solidFill>
              </a:defRPr>
            </a:pPr>
            <a:r>
              <a:t>Random 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00032" y="2103120"/>
            <a:ext cx="2093976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100" b="0">
                <a:solidFill>
                  <a:srgbClr val="5A5A5A"/>
                </a:solidFill>
              </a:defRPr>
            </a:pPr>
            <a:r>
              <a:t>ParameterSampler sinh 30 cấu hình</a:t>
            </a:r>
          </a:p>
        </p:txBody>
      </p:sp>
      <p:sp>
        <p:nvSpPr>
          <p:cNvPr id="28" name="Chevron 27"/>
          <p:cNvSpPr/>
          <p:nvPr/>
        </p:nvSpPr>
        <p:spPr>
          <a:xfrm>
            <a:off x="11612880" y="1984248"/>
            <a:ext cx="320040" cy="411480"/>
          </a:xfrm>
          <a:prstGeom prst="chevron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840480" y="2926080"/>
            <a:ext cx="22402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13632" y="2999232"/>
            <a:ext cx="209397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B1192A"/>
                </a:solidFill>
              </a:defRPr>
            </a:pPr>
            <a:r>
              <a:t>Cross-Validation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2" y="3246120"/>
            <a:ext cx="2093976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100" b="0">
                <a:solidFill>
                  <a:srgbClr val="5A5A5A"/>
                </a:solidFill>
              </a:defRPr>
            </a:pPr>
            <a:r>
              <a:t>5-fold stratified trên training set</a:t>
            </a:r>
          </a:p>
        </p:txBody>
      </p:sp>
      <p:sp>
        <p:nvSpPr>
          <p:cNvPr id="32" name="Chevron 31"/>
          <p:cNvSpPr/>
          <p:nvPr/>
        </p:nvSpPr>
        <p:spPr>
          <a:xfrm>
            <a:off x="6126480" y="3127248"/>
            <a:ext cx="320040" cy="411480"/>
          </a:xfrm>
          <a:prstGeom prst="chevron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83680" y="2926080"/>
            <a:ext cx="22402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56832" y="2999232"/>
            <a:ext cx="209397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B1192A"/>
                </a:solidFill>
              </a:defRPr>
            </a:pPr>
            <a:r>
              <a:t>Chọn nghiệm tốt nhất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56832" y="3246120"/>
            <a:ext cx="2093976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100" b="0">
                <a:solidFill>
                  <a:srgbClr val="5A5A5A"/>
                </a:solidFill>
              </a:defRPr>
            </a:pPr>
            <a:r>
              <a:t>Dựa trên mean CV Macro-F1</a:t>
            </a:r>
          </a:p>
        </p:txBody>
      </p:sp>
      <p:sp>
        <p:nvSpPr>
          <p:cNvPr id="36" name="Chevron 35"/>
          <p:cNvSpPr/>
          <p:nvPr/>
        </p:nvSpPr>
        <p:spPr>
          <a:xfrm>
            <a:off x="8869680" y="3127248"/>
            <a:ext cx="320040" cy="411480"/>
          </a:xfrm>
          <a:prstGeom prst="chevron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326880" y="2926080"/>
            <a:ext cx="224028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00032" y="2999232"/>
            <a:ext cx="2093976" cy="1828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400" b="1">
                <a:solidFill>
                  <a:srgbClr val="B1192A"/>
                </a:solidFill>
              </a:defRPr>
            </a:pPr>
            <a:r>
              <a:t>Đánh giá cuối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3246120"/>
            <a:ext cx="2093976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100" b="0">
                <a:solidFill>
                  <a:srgbClr val="5A5A5A"/>
                </a:solidFill>
              </a:defRPr>
            </a:pPr>
            <a:r>
              <a:t>Fit lại trên train và test trên holdout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11480"/>
            <a:ext cx="384048" cy="457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Nhập môn Tối ưu hóa  •  Bài tập lớn cá nhân  •  Phạm Phú Vĩnh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B2B2B"/>
                </a:solidFill>
              </a:defRPr>
            </a:pPr>
            <a:r>
              <a:t>3. Phương pháp thực hiện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94183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So sánh baseline với Random Search và cách kiểm chứng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53035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109728" cy="2926080"/>
          </a:xfrm>
          <a:prstGeom prst="rect">
            <a:avLst/>
          </a:prstGeom>
          <a:solidFill>
            <a:srgbClr val="2C5D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44752"/>
            <a:ext cx="507492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B2B2B"/>
                </a:solidFill>
              </a:defRPr>
            </a:pPr>
            <a:r>
              <a:t>Baseline Random Forest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709928"/>
            <a:ext cx="5047488" cy="25420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300" b="0">
                <a:solidFill>
                  <a:srgbClr val="5A5A5A"/>
                </a:solidFill>
              </a:defRPr>
            </a:pPr>
            <a:r>
              <a:t>• Dùng RandomForestClassifier mặc định</a:t>
            </a:r>
            <a:br/>
            <a:r>
              <a:t>• random_state=42, n_jobs=1</a:t>
            </a:r>
            <a:br/>
            <a:r>
              <a:t>• Được đánh giá bằng cùng 5-fold CV</a:t>
            </a:r>
            <a:br/>
            <a:r>
              <a:t>• Là mốc đối chứng để so sánh với tối ưu hóa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71600"/>
            <a:ext cx="5303520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109728" cy="292608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444752"/>
            <a:ext cx="507492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B2B2B"/>
                </a:solidFill>
              </a:defRPr>
            </a:pPr>
            <a:r>
              <a:t>Random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1709928"/>
            <a:ext cx="5047488" cy="25420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300" b="0">
                <a:solidFill>
                  <a:srgbClr val="5A5A5A"/>
                </a:solidFill>
              </a:defRPr>
            </a:pPr>
            <a:r>
              <a:t>• Dùng ParameterSampler với seed 42</a:t>
            </a:r>
            <a:br/>
            <a:r>
              <a:t>• Lấy 30 cấu hình hợp lệ trong miền Ω</a:t>
            </a:r>
            <a:br/>
            <a:r>
              <a:t>• Ghi mean/std CV Macro-F1 và runtime</a:t>
            </a:r>
            <a:br/>
            <a:r>
              <a:t>• Chọn cấu hình có CV Macro-F1 cao nhất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2628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800" b="1">
                <a:solidFill>
                  <a:srgbClr val="2B2B2B"/>
                </a:solidFill>
              </a:defRPr>
            </a:pPr>
            <a:r>
              <a:t>Các kiểm chứng bổ sung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800600"/>
            <a:ext cx="36118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4800600"/>
            <a:ext cx="109728" cy="1097280"/>
          </a:xfrm>
          <a:prstGeom prst="rect">
            <a:avLst/>
          </a:prstGeom>
          <a:solidFill>
            <a:srgbClr val="3A8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873752"/>
            <a:ext cx="338328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B2B2B"/>
                </a:solidFill>
              </a:defRPr>
            </a:pPr>
            <a:r>
              <a:t>Search 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5138928"/>
            <a:ext cx="3355848" cy="7132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300" b="0">
                <a:solidFill>
                  <a:srgbClr val="5A5A5A"/>
                </a:solidFill>
              </a:defRPr>
            </a:pPr>
            <a:r>
              <a:t>Lưu lại trial_history.csv để theo dõi sự hội tụ của nghiệm tốt nhất.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4800600"/>
            <a:ext cx="36118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7680" y="4800600"/>
            <a:ext cx="109728" cy="1097280"/>
          </a:xfrm>
          <a:prstGeom prst="rect">
            <a:avLst/>
          </a:prstGeom>
          <a:solidFill>
            <a:srgbClr val="2C5D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2272" y="4873752"/>
            <a:ext cx="338328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B2B2B"/>
                </a:solidFill>
              </a:defRPr>
            </a:pPr>
            <a:r>
              <a:t>Sensitivity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272" y="5138928"/>
            <a:ext cx="3355848" cy="7132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300" b="0">
                <a:solidFill>
                  <a:srgbClr val="5A5A5A"/>
                </a:solidFill>
              </a:defRPr>
            </a:pPr>
            <a:r>
              <a:t>Thay đổi max_depth quanh cấu hình tốt nhất để xem độ nhạy.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800600"/>
            <a:ext cx="36118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1000" y="4800600"/>
            <a:ext cx="109728" cy="109728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65592" y="4873752"/>
            <a:ext cx="338328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B2B2B"/>
                </a:solidFill>
              </a:defRPr>
            </a:pPr>
            <a:r>
              <a:t>Stability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5138928"/>
            <a:ext cx="3355848" cy="7132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300" b="0">
                <a:solidFill>
                  <a:srgbClr val="5A5A5A"/>
                </a:solidFill>
              </a:defRPr>
            </a:pPr>
            <a:r>
              <a:t>Thử các estimator seed 11, 23, 42 để xem độ ổn định tương đối.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11480"/>
            <a:ext cx="384048" cy="457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Nhập môn Tối ưu hóa  •  Bài tập lớn cá nhân  •  Phạm Phú Vĩnh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B2B2B"/>
                </a:solidFill>
              </a:defRPr>
            </a:pPr>
            <a:r>
              <a:t>4. Kết quả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94183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Bảng so sánh kết quả giữa mô hình mặc định và mô hình tối ưu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417320"/>
            <a:ext cx="2834640" cy="502920"/>
          </a:xfrm>
          <a:prstGeom prst="rect">
            <a:avLst/>
          </a:prstGeom>
          <a:solidFill>
            <a:srgbClr val="B1192A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Chỉ số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417320"/>
            <a:ext cx="1828800" cy="502920"/>
          </a:xfrm>
          <a:prstGeom prst="rect">
            <a:avLst/>
          </a:prstGeom>
          <a:solidFill>
            <a:srgbClr val="B1192A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Default RF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1417320"/>
            <a:ext cx="1828800" cy="502920"/>
          </a:xfrm>
          <a:prstGeom prst="rect">
            <a:avLst/>
          </a:prstGeom>
          <a:solidFill>
            <a:srgbClr val="B1192A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Random Search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920240"/>
            <a:ext cx="2834640" cy="502920"/>
          </a:xfrm>
          <a:prstGeom prst="rect">
            <a:avLst/>
          </a:prstGeom>
          <a:solidFill>
            <a:srgbClr val="EBEEF2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CV Macro-F1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1920240"/>
            <a:ext cx="1828800" cy="502920"/>
          </a:xfrm>
          <a:prstGeom prst="rect">
            <a:avLst/>
          </a:prstGeom>
          <a:solidFill>
            <a:srgbClr val="EBEEF2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0.9603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7800" y="1920240"/>
            <a:ext cx="1828800" cy="502920"/>
          </a:xfrm>
          <a:prstGeom prst="rect">
            <a:avLst/>
          </a:prstGeom>
          <a:solidFill>
            <a:srgbClr val="EBEEF2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0.9576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423160"/>
            <a:ext cx="2834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CV std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2423160"/>
            <a:ext cx="18288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0.0188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423160"/>
            <a:ext cx="18288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0.0190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2926080"/>
            <a:ext cx="2834640" cy="502920"/>
          </a:xfrm>
          <a:prstGeom prst="rect">
            <a:avLst/>
          </a:prstGeom>
          <a:solidFill>
            <a:srgbClr val="EBEEF2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Test Macro-F1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29000" y="2926080"/>
            <a:ext cx="1828800" cy="502920"/>
          </a:xfrm>
          <a:prstGeom prst="rect">
            <a:avLst/>
          </a:prstGeom>
          <a:solidFill>
            <a:srgbClr val="EBEEF2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0.9526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57800" y="2926080"/>
            <a:ext cx="1828800" cy="502920"/>
          </a:xfrm>
          <a:prstGeom prst="rect">
            <a:avLst/>
          </a:prstGeom>
          <a:solidFill>
            <a:srgbClr val="EBEEF2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0.9526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3429000"/>
            <a:ext cx="2834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Test Accuracy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3429000"/>
            <a:ext cx="18288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0.9561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57800" y="3429000"/>
            <a:ext cx="18288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0.9561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3931920"/>
            <a:ext cx="2834640" cy="502920"/>
          </a:xfrm>
          <a:prstGeom prst="rect">
            <a:avLst/>
          </a:prstGeom>
          <a:solidFill>
            <a:srgbClr val="EBEEF2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CV evaluation cost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29000" y="3931920"/>
            <a:ext cx="1828800" cy="502920"/>
          </a:xfrm>
          <a:prstGeom prst="rect">
            <a:avLst/>
          </a:prstGeom>
          <a:solidFill>
            <a:srgbClr val="EBEEF2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0.98s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57800" y="3931920"/>
            <a:ext cx="1828800" cy="502920"/>
          </a:xfrm>
          <a:prstGeom prst="rect">
            <a:avLst/>
          </a:prstGeom>
          <a:solidFill>
            <a:srgbClr val="EBEEF2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14.96s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4434840"/>
            <a:ext cx="2834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Final fit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9000" y="4434840"/>
            <a:ext cx="18288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0.171s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57800" y="4434840"/>
            <a:ext cx="18288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D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2B2B2B"/>
                </a:solidFill>
              </a:defRPr>
            </a:pPr>
            <a:r>
              <a:t>0.135s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26679" y="1417320"/>
            <a:ext cx="384048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26679" y="1417320"/>
            <a:ext cx="109728" cy="1463040"/>
          </a:xfrm>
          <a:prstGeom prst="rect">
            <a:avLst/>
          </a:prstGeom>
          <a:solidFill>
            <a:srgbClr val="3A8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91271" y="1490472"/>
            <a:ext cx="361188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B2B2B"/>
                </a:solidFill>
              </a:defRPr>
            </a:pPr>
            <a:r>
              <a:t>Cấu hình tốt nhất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91271" y="1755648"/>
            <a:ext cx="3584448" cy="107899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300" b="0">
                <a:solidFill>
                  <a:srgbClr val="5A5A5A"/>
                </a:solidFill>
              </a:defRPr>
            </a:pPr>
            <a:r>
              <a:t>n_estimators = 80</a:t>
            </a:r>
            <a:br/>
            <a:r>
              <a:t>max_depth = 5</a:t>
            </a:r>
            <a:br/>
            <a:r>
              <a:t>min_samples_split = 4</a:t>
            </a:r>
            <a:br/>
            <a:r>
              <a:t>min_samples_leaf =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26679" y="3108960"/>
            <a:ext cx="38404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26679" y="3108960"/>
            <a:ext cx="109728" cy="155448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91271" y="3182112"/>
            <a:ext cx="361188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B2B2B"/>
                </a:solidFill>
              </a:defRPr>
            </a:pPr>
            <a:r>
              <a:t>Nhận xét nhanh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1271" y="3447288"/>
            <a:ext cx="3584448" cy="11704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300" b="0">
                <a:solidFill>
                  <a:srgbClr val="5A5A5A"/>
                </a:solidFill>
              </a:defRPr>
            </a:pPr>
            <a:r>
              <a:t>• Baseline có CV Macro-F1 cao hơn 0.0027</a:t>
            </a:r>
            <a:br/>
            <a:r>
              <a:t>• Test Macro-F1 của hai mô hình bằng nhau</a:t>
            </a:r>
            <a:br/>
            <a:r>
              <a:t>• Search tốn thêm khoảng 14.96 giây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26679" y="4892040"/>
            <a:ext cx="3840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26679" y="4892040"/>
            <a:ext cx="109728" cy="868680"/>
          </a:xfrm>
          <a:prstGeom prst="rect">
            <a:avLst/>
          </a:prstGeom>
          <a:solidFill>
            <a:srgbClr val="2C5D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91271" y="4965192"/>
            <a:ext cx="361188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B2B2B"/>
                </a:solidFill>
              </a:defRPr>
            </a:pPr>
            <a:r>
              <a:t>Quyết định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91271" y="5230368"/>
            <a:ext cx="3584448" cy="48463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300" b="0">
                <a:solidFill>
                  <a:srgbClr val="5A5A5A"/>
                </a:solidFill>
              </a:defRPr>
            </a:pPr>
            <a:r>
              <a:t>Giữ Random Forest mặc định cho benchmark này.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11480"/>
            <a:ext cx="384048" cy="457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Nhập môn Tối ưu hóa  •  Bài tập lớn cá nhân  •  Phạm Phú Vĩnh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B2B2B"/>
                </a:solidFill>
              </a:defRPr>
            </a:pPr>
            <a:r>
              <a:t>5. Biểu đồ hội tụ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94183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Search history cho thấy cách nghiệm tốt nhất được cải thiện qua 30 lần thử</a:t>
            </a:r>
          </a:p>
        </p:txBody>
      </p:sp>
      <p:pic>
        <p:nvPicPr>
          <p:cNvPr id="8" name="Picture 7" descr="conver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25880"/>
            <a:ext cx="7132320" cy="4389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38160" y="1554480"/>
            <a:ext cx="33832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1554480"/>
            <a:ext cx="109728" cy="1188720"/>
          </a:xfrm>
          <a:prstGeom prst="rect">
            <a:avLst/>
          </a:prstGeom>
          <a:solidFill>
            <a:srgbClr val="2C5D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627632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B2B2B"/>
                </a:solidFill>
              </a:defRPr>
            </a:pPr>
            <a:r>
              <a:t>Ý nghĩa biểu đồ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1892808"/>
            <a:ext cx="3127248" cy="8046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300" b="0">
                <a:solidFill>
                  <a:srgbClr val="5A5A5A"/>
                </a:solidFill>
              </a:defRPr>
            </a:pPr>
            <a:r>
              <a:t>• Mỗi chấm là CV Macro-F1 của một trial</a:t>
            </a:r>
            <a:br/>
            <a:r>
              <a:t>• Đường xanh đậm là best-so-far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926080"/>
            <a:ext cx="33832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2926080"/>
            <a:ext cx="109728" cy="114300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2999232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B2B2B"/>
                </a:solidFill>
              </a:defRPr>
            </a:pPr>
            <a:r>
              <a:t>Quan sát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3264408"/>
            <a:ext cx="3127248" cy="7589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300" b="0">
                <a:solidFill>
                  <a:srgbClr val="5A5A5A"/>
                </a:solidFill>
              </a:defRPr>
            </a:pPr>
            <a:r>
              <a:t>Điểm tốt nhất tăng dần và đạt cực đại khoảng mức 0.9576 trong ngân sách 30 trials.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297680"/>
            <a:ext cx="33832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297680"/>
            <a:ext cx="109728" cy="1143000"/>
          </a:xfrm>
          <a:prstGeom prst="rect">
            <a:avLst/>
          </a:prstGeom>
          <a:solidFill>
            <a:srgbClr val="3A8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4370832"/>
            <a:ext cx="315468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B2B2B"/>
                </a:solidFill>
              </a:defRPr>
            </a:pPr>
            <a:r>
              <a:t>Kết luận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4636008"/>
            <a:ext cx="3127248" cy="7589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300" b="0">
                <a:solidFill>
                  <a:srgbClr val="5A5A5A"/>
                </a:solidFill>
              </a:defRPr>
            </a:pPr>
            <a:r>
              <a:t>Random Search có tìm được cấu hình tốt, nhưng vẫn chưa vượt baseline.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11480"/>
            <a:ext cx="384048" cy="457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Nhập môn Tối ưu hóa  •  Bài tập lớn cá nhân  •  Phạm Phú Vĩnh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B2B2B"/>
                </a:solidFill>
              </a:defRPr>
            </a:pPr>
            <a:r>
              <a:t>6. So sánh kết quả &amp; kết luận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94183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5A5A"/>
                </a:solidFill>
              </a:defRPr>
            </a:pPr>
            <a:r>
              <a:t>So sánh trực quan và thông điệp chính cần trình bày khi bảo vệ</a:t>
            </a:r>
          </a:p>
        </p:txBody>
      </p:sp>
      <p:pic>
        <p:nvPicPr>
          <p:cNvPr id="8" name="Picture 7" descr="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25880"/>
            <a:ext cx="5486400" cy="2423160"/>
          </a:xfrm>
          <a:prstGeom prst="rect">
            <a:avLst/>
          </a:prstGeom>
        </p:spPr>
      </p:pic>
      <p:pic>
        <p:nvPicPr>
          <p:cNvPr id="9" name="Picture 8" descr="trade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325880"/>
            <a:ext cx="5440680" cy="24231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3977639"/>
            <a:ext cx="110642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977639"/>
            <a:ext cx="109728" cy="1508760"/>
          </a:xfrm>
          <a:prstGeom prst="rect">
            <a:avLst/>
          </a:prstGeom>
          <a:solidFill>
            <a:srgbClr val="B11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050791"/>
            <a:ext cx="10835640" cy="228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600" b="1">
                <a:solidFill>
                  <a:srgbClr val="2B2B2B"/>
                </a:solidFill>
              </a:defRPr>
            </a:pPr>
            <a:r>
              <a:t>Kết luận cuối cùng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315967"/>
            <a:ext cx="10808208" cy="112471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300" b="0">
                <a:solidFill>
                  <a:srgbClr val="5A5A5A"/>
                </a:solidFill>
              </a:defRPr>
            </a:pPr>
            <a:r>
              <a:t>• Default RF: CV Macro-F1 = 0.9603; Random Search = 0.9576</a:t>
            </a:r>
            <a:br/>
            <a:r>
              <a:t>• Held-out test Macro-F1 của hai mô hình đều là 0.9526</a:t>
            </a:r>
            <a:br/>
            <a:r>
              <a:t>• Search cost khoảng 14.96 giây cho 30 trials</a:t>
            </a:r>
            <a:br/>
            <a:r>
              <a:t>• Trong phạm vi thí nghiệm này, giữ cấu hình mặc định là lựa chọn hợp lý hơn.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6928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</a:defRPr>
            </a:pPr>
            <a:r>
              <a:t>Demo gợi ý khi thuyết trình: mở GitHub → results/analysis.md → báo cáo PDF → giải thích vì sao chọn baseline.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